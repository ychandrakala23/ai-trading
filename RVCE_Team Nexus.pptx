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60"/>
  </p:normalViewPr>
  <p:slideViewPr>
    <p:cSldViewPr snapToGrid="0">
      <p:cViewPr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i-trading-8yddslultqfz2hfv9yt32z.streamlit.app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i-trading-8yddslultqfz2hfv9yt32z.streamlit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rive.google.com/file/d/1O3QrUEcvy2YwzbpROsCx6HRuzUn1Wo_u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137355" y="2601744"/>
            <a:ext cx="683767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&lt;RVCE&gt;_&lt;Team Nexus&gt;</a:t>
            </a: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&lt;Risk-Aware AI for Intelligent Trading&gt;</a:t>
            </a: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</a:t>
            </a:r>
            <a:r>
              <a:rPr lang="en-US" sz="4000" b="1" dirty="0" err="1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Yarragunta</a:t>
            </a:r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Chandrakala&gt;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&lt;Varshini&gt;</a:t>
            </a:r>
          </a:p>
          <a:p>
            <a:pPr algn="ctr"/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446448" y="1395928"/>
            <a:ext cx="95922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Theme:</a:t>
            </a:r>
            <a:r>
              <a:rPr lang="en-IN" dirty="0"/>
              <a:t>- </a:t>
            </a:r>
            <a:r>
              <a:rPr lang="en-IN" b="1" dirty="0"/>
              <a:t>On-Device AI + GenAI Research</a:t>
            </a:r>
            <a:endParaRPr lang="en-IN" dirty="0"/>
          </a:p>
          <a:p>
            <a:r>
              <a:rPr lang="en-IN" b="1" dirty="0"/>
              <a:t>Problem</a:t>
            </a:r>
            <a:r>
              <a:rPr lang="en-IN" dirty="0"/>
              <a:t>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Retail investors face information overload from </a:t>
            </a:r>
            <a:r>
              <a:rPr lang="en-US" dirty="0" err="1"/>
              <a:t>charts,predictions,etc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platforms provide forecasts but no clear decision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systems lack transparency and risk awareness.</a:t>
            </a:r>
            <a:endParaRPr lang="en-IN" dirty="0"/>
          </a:p>
          <a:p>
            <a:r>
              <a:rPr lang="en-IN" b="1" dirty="0"/>
              <a:t>Who Faces it ( persona)</a:t>
            </a:r>
            <a:r>
              <a:rPr lang="en-IN" dirty="0"/>
              <a:t>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Retail investors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Beginner traders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without professional financial advisory access</a:t>
            </a:r>
            <a:endParaRPr lang="en-IN" dirty="0"/>
          </a:p>
          <a:p>
            <a:r>
              <a:rPr lang="en-IN" b="1" dirty="0"/>
              <a:t>Why is it important</a:t>
            </a:r>
            <a:r>
              <a:rPr lang="en-IN" dirty="0"/>
              <a:t>:-</a:t>
            </a:r>
          </a:p>
          <a:p>
            <a:r>
              <a:rPr lang="en-US" dirty="0"/>
              <a:t>Without explainability and risk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cannot trust AI decisions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 exposure remains invisible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Poor financial decisions become more common </a:t>
            </a:r>
          </a:p>
          <a:p>
            <a:endParaRPr lang="en-IN" dirty="0"/>
          </a:p>
          <a:p>
            <a:r>
              <a:rPr lang="en-US" b="1" dirty="0"/>
              <a:t>Key User Questions</a:t>
            </a:r>
          </a:p>
          <a:p>
            <a:r>
              <a:rPr lang="en-US" dirty="0"/>
              <a:t>❝ What should I do right now? ❞</a:t>
            </a:r>
            <a:br>
              <a:rPr lang="en-US" dirty="0"/>
            </a:br>
            <a:r>
              <a:rPr lang="en-US" dirty="0"/>
              <a:t>❝ How risky is this decision? ❞</a:t>
            </a:r>
            <a:br>
              <a:rPr lang="en-US" dirty="0"/>
            </a:br>
            <a:r>
              <a:rPr lang="en-US" dirty="0"/>
              <a:t>❝ Can I trust this system? ❞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060505-7BBA-6EFB-1A44-48DB142E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720" y="670560"/>
            <a:ext cx="4907280" cy="584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32" y="39014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27D272-0AB0-9919-455D-5B625D66A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792" y="560832"/>
            <a:ext cx="4836208" cy="57962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66BF716-5D91-07A4-AE25-6D4C05732114}"/>
              </a:ext>
            </a:extLst>
          </p:cNvPr>
          <p:cNvSpPr txBox="1"/>
          <p:nvPr/>
        </p:nvSpPr>
        <p:spPr>
          <a:xfrm>
            <a:off x="487632" y="1184473"/>
            <a:ext cx="70002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Existing Tools:-</a:t>
            </a:r>
          </a:p>
          <a:p>
            <a:r>
              <a:rPr lang="en-US" dirty="0"/>
              <a:t>Prediction platforms like </a:t>
            </a:r>
            <a:r>
              <a:rPr lang="en-US" dirty="0" err="1"/>
              <a:t>TradingView</a:t>
            </a:r>
            <a:r>
              <a:rPr lang="en-US" dirty="0"/>
              <a:t>, </a:t>
            </a:r>
            <a:r>
              <a:rPr lang="en-US" dirty="0" err="1"/>
              <a:t>robo</a:t>
            </a:r>
            <a:r>
              <a:rPr lang="en-US" dirty="0"/>
              <a:t>-advisors, and stock screeners provide market forecasts and analytics for investors.</a:t>
            </a:r>
          </a:p>
          <a:p>
            <a:br>
              <a:rPr lang="en-US" dirty="0"/>
            </a:br>
            <a:r>
              <a:rPr lang="en-US" b="1" dirty="0"/>
              <a:t>What’s Missing / Broken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Predictions without actionable buy/sell/hold guidance.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Black-box AI models with no explainability.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risk quantification such as </a:t>
            </a:r>
            <a:r>
              <a:rPr lang="en-US" dirty="0" err="1"/>
              <a:t>VaR</a:t>
            </a:r>
            <a:r>
              <a:rPr lang="en-US" dirty="0"/>
              <a:t> or volatility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interfaces designed mainly for experts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Reliance on static historical data with limited real-time decision support.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Opportunity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 an end-to-end AI platform that bridges the gap between market prediction and confident decision-making through: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Explainable AI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Risk-aware insights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Real-time recommendations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Retail-first user experience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395928"/>
            <a:ext cx="55705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We Built</a:t>
            </a:r>
          </a:p>
          <a:p>
            <a:r>
              <a:rPr lang="en-US" dirty="0"/>
              <a:t>An end-to-end AI-powered investment platform that transforms live market data into explainable, risk-aware, and actionable trading decisions for retail investors.</a:t>
            </a:r>
          </a:p>
          <a:p>
            <a:endParaRPr lang="en-US" dirty="0"/>
          </a:p>
          <a:p>
            <a:r>
              <a:rPr lang="en-US" b="1" dirty="0"/>
              <a:t>Core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ML Prediction Engine</a:t>
            </a:r>
          </a:p>
          <a:p>
            <a:r>
              <a:rPr lang="en-US" dirty="0"/>
              <a:t>Predicts short-term market direction using models like </a:t>
            </a:r>
            <a:r>
              <a:rPr lang="en-US" dirty="0" err="1"/>
              <a:t>XGBoost</a:t>
            </a:r>
            <a:r>
              <a:rPr lang="en-US" dirty="0"/>
              <a:t>, Random Forest, and Logistic Regression.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Reinforcement Learning Agent</a:t>
            </a:r>
          </a:p>
          <a:p>
            <a:r>
              <a:rPr lang="en-US" dirty="0"/>
              <a:t>Learns Buy, Sell, and Hold strategies by maximizing long-term portfolio reward.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Risk Analysis Engine</a:t>
            </a:r>
          </a:p>
          <a:p>
            <a:r>
              <a:rPr lang="en-US" dirty="0"/>
              <a:t>Calculates Value at Risk (</a:t>
            </a:r>
            <a:r>
              <a:rPr lang="en-US" dirty="0" err="1"/>
              <a:t>VaR</a:t>
            </a:r>
            <a:r>
              <a:rPr lang="en-US" dirty="0"/>
              <a:t>), volatility, drawdown, and downside exposure before decisions are made.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Explainable AI Layer</a:t>
            </a:r>
          </a:p>
          <a:p>
            <a:r>
              <a:rPr lang="en-US" dirty="0"/>
              <a:t>Uses SHAP explainability to show which indicators influenced every prediction.</a:t>
            </a: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37E1B5-8B4B-7E61-379A-34E5ADE11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058" y="1001940"/>
            <a:ext cx="4827342" cy="19768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129C66-6CCD-F250-5DA0-D47F48862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431" y="3176052"/>
            <a:ext cx="5534226" cy="25369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C616B0-18B4-3AC6-7D32-325E6EBAB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110" y="3267015"/>
            <a:ext cx="5570547" cy="235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79121" y="560832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1663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2768008" y="1386316"/>
            <a:ext cx="665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Live demo:-</a:t>
            </a:r>
            <a:r>
              <a:rPr lang="en-US" dirty="0">
                <a:hlinkClick r:id="rId3"/>
              </a:rPr>
              <a:t>https://ai-trading-8yddslultqfz2hfv9yt32z.streamlit.app/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BAA954-67E2-F3C9-295C-E0FD9FC88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442" y="1889760"/>
            <a:ext cx="10444479" cy="1052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6BA1F9-6C0D-5CC2-1E15-B1E2EC910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486" y="3131211"/>
            <a:ext cx="5380257" cy="32959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7DF229-75E2-8317-ABF1-37370A5E4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140" y="3131211"/>
            <a:ext cx="5469323" cy="344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443283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528320" y="1100452"/>
            <a:ext cx="46329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Python, pandas, NumPy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scikit-learn, </a:t>
            </a:r>
            <a:r>
              <a:rPr lang="en-IN" dirty="0" err="1"/>
              <a:t>XGBoost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Reinforcement Learning (RL)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SHAP Explainable AI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Plotly &amp; </a:t>
            </a:r>
            <a:r>
              <a:rPr lang="en-IN" dirty="0" err="1"/>
              <a:t>Streamlit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Yahoo Finance API (</a:t>
            </a:r>
            <a:r>
              <a:rPr lang="en-IN" dirty="0" err="1"/>
              <a:t>yFinance</a:t>
            </a:r>
            <a:r>
              <a:rPr lang="en-IN" dirty="0"/>
              <a:t>) </a:t>
            </a:r>
          </a:p>
          <a:p>
            <a:r>
              <a:rPr lang="en-US" b="1" dirty="0"/>
              <a:t>AI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ML models for market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RL agent for Buy/Sell/Hold decision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SHAP for explainable AI and feature importance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VaR</a:t>
            </a:r>
            <a:r>
              <a:rPr lang="en-US" dirty="0"/>
              <a:t> &amp; volatility models for risk quantification </a:t>
            </a:r>
            <a:endParaRPr lang="en-IN" dirty="0"/>
          </a:p>
          <a:p>
            <a:r>
              <a:rPr lang="en-US" b="1" dirty="0"/>
              <a:t>Architecture 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market data ingestion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Explainable prediction pipeline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Risk-aware decision engine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Interactive analytics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End-to-end AI-powered workflow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8DCDC-396C-6CD5-7136-0CF8D039D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848" y="4915925"/>
            <a:ext cx="8163152" cy="16832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7A3E7A-DDCB-07D0-B383-73D025DAD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520" y="1034412"/>
            <a:ext cx="6945201" cy="376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542488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ED8E91-DD79-8056-C148-64646F11A2A0}"/>
              </a:ext>
            </a:extLst>
          </p:cNvPr>
          <p:cNvSpPr txBox="1"/>
          <p:nvPr/>
        </p:nvSpPr>
        <p:spPr>
          <a:xfrm>
            <a:off x="609600" y="1414272"/>
            <a:ext cx="107492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Scenario 1 — Retail Investor</a:t>
            </a:r>
          </a:p>
          <a:p>
            <a:pPr>
              <a:buNone/>
            </a:pPr>
            <a:r>
              <a:rPr lang="en-US" dirty="0"/>
              <a:t>A salaried individual managing a personal portfolio receives clear BUY / SELL recommendations with confidence scores, risk analysis, and explainable insights — without requiring financial expertise.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Scenario 2 — Beginner Trader</a:t>
            </a:r>
          </a:p>
          <a:p>
            <a:pPr>
              <a:buNone/>
            </a:pPr>
            <a:r>
              <a:rPr lang="en-US" dirty="0"/>
              <a:t>A first-time investor uses the paper-trading simulation mode to practice trading strategies risk-free while learning from SHAP-based AI explanations and performance analytics.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Scenario 3 — Underserved Individuals</a:t>
            </a:r>
          </a:p>
          <a:p>
            <a:pPr>
              <a:buNone/>
            </a:pPr>
            <a:r>
              <a:rPr lang="en-US" dirty="0"/>
              <a:t>Users without access to institutional advisory services gain affordable, AI-powered investment guidance directly through an intuitive dashboard experience.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Scale Potential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Intelligent advisory layer for retail investing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Cloud-ready deployment for brokerage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Federated learning for privacy-preserving model improvement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Scalable architecture for real-time financial analytics </a:t>
            </a: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93040" y="457992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93040" y="1107777"/>
            <a:ext cx="118059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Our Solution Stands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Prediction → Decision Intelligence</a:t>
            </a:r>
          </a:p>
          <a:p>
            <a:r>
              <a:rPr lang="en-US" dirty="0"/>
              <a:t>Unlike traditional prediction platforms, </a:t>
            </a:r>
            <a:r>
              <a:rPr lang="en-US" dirty="0" err="1"/>
              <a:t>AlgoTrade</a:t>
            </a:r>
            <a:r>
              <a:rPr lang="en-US" dirty="0"/>
              <a:t> AI delivers actionable BUY / SELL / HOLD recommendations with confidence scores and real-time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Explainable AI (XAI)</a:t>
            </a:r>
          </a:p>
          <a:p>
            <a:r>
              <a:rPr lang="en-US" dirty="0"/>
              <a:t>SHAP-based explainability shows exactly which indicators influenced every recommendation, eliminating black-box decision making.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Built-In Risk Awareness</a:t>
            </a:r>
          </a:p>
          <a:p>
            <a:r>
              <a:rPr lang="en-US" dirty="0" err="1"/>
              <a:t>VaR</a:t>
            </a:r>
            <a:r>
              <a:rPr lang="en-US" dirty="0"/>
              <a:t>, volatility, drawdown, and Monte Carlo analysis are integrated directly into the decision pipeline before recommendations are made.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Retail-First Experience</a:t>
            </a:r>
          </a:p>
          <a:p>
            <a:r>
              <a:rPr lang="en-US" dirty="0"/>
              <a:t>Designed specifically for retail investors with intuitive dashboards, simplified insights, and paper-trading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Strong MOAT 1</a:t>
            </a:r>
          </a:p>
          <a:p>
            <a:r>
              <a:rPr lang="en-US" b="1" dirty="0"/>
              <a:t>Explainability + Risk Integration</a:t>
            </a:r>
          </a:p>
          <a:p>
            <a:r>
              <a:rPr lang="en-US" dirty="0"/>
              <a:t>A unified platform combining live recommendations, explainable AI, and advanced financial risk modelling in one seamless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Strong MOAT 2</a:t>
            </a:r>
          </a:p>
          <a:p>
            <a:r>
              <a:rPr lang="en-US" b="1" dirty="0"/>
              <a:t>Privacy-First Local Architecture</a:t>
            </a:r>
          </a:p>
          <a:p>
            <a:r>
              <a:rPr lang="en-US" dirty="0"/>
              <a:t>Local-first processing with minimal external dependency, aligning with secure and privacy-aware AI ecosystems like Samsung PRISM.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502328" y="1524000"/>
            <a:ext cx="10699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Demo Link:- </a:t>
            </a:r>
            <a:r>
              <a:rPr lang="en-IN" dirty="0">
                <a:hlinkClick r:id="rId3"/>
              </a:rPr>
              <a:t>https://ai-trading-8yddslultqfz2hfv9yt32z.streamlit.app/</a:t>
            </a:r>
            <a:endParaRPr lang="en-IN" dirty="0"/>
          </a:p>
          <a:p>
            <a:r>
              <a:rPr lang="en-IN" dirty="0"/>
              <a:t>Video link:-</a:t>
            </a:r>
            <a:r>
              <a:rPr lang="en-IN" dirty="0">
                <a:hlinkClick r:id="rId4"/>
              </a:rPr>
              <a:t>https://drive.google.com/file/d/1O3QrUEcvy2YwzbpROsCx6HRuzUn1Wo_u/view?usp=sharing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762</Words>
  <Application>Microsoft Office PowerPoint</Application>
  <PresentationFormat>Widescreen</PresentationFormat>
  <Paragraphs>125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Berlin Sans FB Demi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Y Chandrakala</cp:lastModifiedBy>
  <cp:revision>4</cp:revision>
  <dcterms:created xsi:type="dcterms:W3CDTF">2026-04-27T09:11:02Z</dcterms:created>
  <dcterms:modified xsi:type="dcterms:W3CDTF">2026-05-07T09:55:07Z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